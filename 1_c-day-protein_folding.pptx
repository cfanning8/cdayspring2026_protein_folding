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5120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7" userDrawn="1">
          <p15:clr>
            <a:srgbClr val="A4A3A4"/>
          </p15:clr>
        </p15:guide>
        <p15:guide id="2" orient="horz" pos="19632" userDrawn="1">
          <p15:clr>
            <a:srgbClr val="A4A3A4"/>
          </p15:clr>
        </p15:guide>
        <p15:guide id="3" orient="horz" pos="3729" userDrawn="1">
          <p15:clr>
            <a:srgbClr val="A4A3A4"/>
          </p15:clr>
        </p15:guide>
        <p15:guide id="4" orient="horz" pos="2129" userDrawn="1">
          <p15:clr>
            <a:srgbClr val="A4A3A4"/>
          </p15:clr>
        </p15:guide>
        <p15:guide id="5" pos="6376" userDrawn="1">
          <p15:clr>
            <a:srgbClr val="A4A3A4"/>
          </p15:clr>
        </p15:guide>
        <p15:guide id="6" pos="7210" userDrawn="1">
          <p15:clr>
            <a:srgbClr val="A4A3A4"/>
          </p15:clr>
        </p15:guide>
        <p15:guide id="7" pos="13124" userDrawn="1">
          <p15:clr>
            <a:srgbClr val="A4A3A4"/>
          </p15:clr>
        </p15:guide>
        <p15:guide id="8" pos="21030" userDrawn="1">
          <p15:clr>
            <a:srgbClr val="A4A3A4"/>
          </p15:clr>
        </p15:guide>
        <p15:guide id="9" pos="986" userDrawn="1">
          <p15:clr>
            <a:srgbClr val="A4A3A4"/>
          </p15:clr>
        </p15:guide>
        <p15:guide id="10" pos="13997" userDrawn="1">
          <p15:clr>
            <a:srgbClr val="A4A3A4"/>
          </p15:clr>
        </p15:guide>
        <p15:guide id="11" pos="20197" userDrawn="1">
          <p15:clr>
            <a:srgbClr val="A4A3A4"/>
          </p15:clr>
        </p15:guide>
        <p15:guide id="12" pos="264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FFFF66"/>
    <a:srgbClr val="FFFFE1"/>
    <a:srgbClr val="FFF3F3"/>
    <a:srgbClr val="800040"/>
    <a:srgbClr val="004080"/>
    <a:srgbClr val="FF6FC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>
      <p:cViewPr varScale="1">
        <p:scale>
          <a:sx n="17" d="100"/>
          <a:sy n="17" d="100"/>
        </p:scale>
        <p:origin x="1522" y="110"/>
      </p:cViewPr>
      <p:guideLst>
        <p:guide orient="horz" pos="717"/>
        <p:guide orient="horz" pos="19632"/>
        <p:guide orient="horz" pos="3729"/>
        <p:guide orient="horz" pos="2129"/>
        <p:guide pos="6376"/>
        <p:guide pos="7210"/>
        <p:guide pos="13124"/>
        <p:guide pos="21030"/>
        <p:guide pos="986"/>
        <p:guide pos="13997"/>
        <p:guide pos="20197"/>
        <p:guide pos="264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4265275" cy="2560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8646775" y="0"/>
            <a:ext cx="14263688" cy="2560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C19B169-612A-4EB3-9B53-B5D4B6901639}" type="datetime1">
              <a:rPr lang="en-US" altLang="en-US"/>
              <a:pPr>
                <a:defRPr/>
              </a:pPr>
              <a:t>4/2/2026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57600" y="3840163"/>
            <a:ext cx="25603200" cy="19202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292475" y="24323675"/>
            <a:ext cx="26333450" cy="230425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637825"/>
            <a:ext cx="14265275" cy="25590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8646775" y="48637825"/>
            <a:ext cx="14263688" cy="25590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9DEA5F7-5D50-4583-8D9F-32F5DCF1477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1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657600" y="3840163"/>
            <a:ext cx="25603200" cy="19202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9600" dirty="0">
                <a:solidFill>
                  <a:srgbClr val="000000"/>
                </a:solidFill>
              </a:rPr>
              <a:t>Copyright Colin </a:t>
            </a:r>
            <a:r>
              <a:rPr lang="en-US" altLang="en-US" sz="9600" dirty="0" err="1">
                <a:solidFill>
                  <a:srgbClr val="000000"/>
                </a:solidFill>
              </a:rPr>
              <a:t>Purrington</a:t>
            </a:r>
            <a:r>
              <a:rPr lang="en-US" altLang="en-US" sz="9600" dirty="0">
                <a:solidFill>
                  <a:srgbClr val="000000"/>
                </a:solidFill>
              </a:rPr>
              <a:t> (</a:t>
            </a:r>
            <a:r>
              <a:rPr lang="en-US" altLang="en-US" sz="9600" dirty="0">
                <a:solidFill>
                  <a:srgbClr val="000000"/>
                </a:solidFill>
                <a:latin typeface="Times New Roman" panose="02020603050405020304" pitchFamily="18" charset="0"/>
              </a:rPr>
              <a:t>http://</a:t>
            </a:r>
            <a:r>
              <a:rPr lang="en-US" altLang="en-US" sz="9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colinpurrington.com</a:t>
            </a:r>
            <a:r>
              <a:rPr lang="en-US" altLang="en-US" sz="9600" dirty="0">
                <a:solidFill>
                  <a:srgbClr val="000000"/>
                </a:solidFill>
                <a:latin typeface="Times New Roman" panose="02020603050405020304" pitchFamily="18" charset="0"/>
              </a:rPr>
              <a:t>/tips/academic/</a:t>
            </a:r>
            <a:r>
              <a:rPr lang="en-US" altLang="en-US" sz="9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posterdesign</a:t>
            </a:r>
            <a:r>
              <a:rPr lang="en-US" altLang="en-US" sz="9600" dirty="0">
                <a:solidFill>
                  <a:srgbClr val="000000"/>
                </a:solidFill>
                <a:latin typeface="Times New Roman" panose="02020603050405020304" pitchFamily="18" charset="0"/>
              </a:rPr>
              <a:t>).</a:t>
            </a:r>
            <a:endParaRPr lang="en-US" altLang="en-US" sz="96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9600" dirty="0">
              <a:solidFill>
                <a:srgbClr val="FF0000"/>
              </a:solidFill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1DA5F652-ADC1-4E21-8467-0D92D647D079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570" y="10226675"/>
            <a:ext cx="37308064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136" y="18653126"/>
            <a:ext cx="30724929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70276" indent="0" algn="ctr">
              <a:buNone/>
              <a:defRPr/>
            </a:lvl2pPr>
            <a:lvl3pPr marL="940552" indent="0" algn="ctr">
              <a:buNone/>
              <a:defRPr/>
            </a:lvl3pPr>
            <a:lvl4pPr marL="1410828" indent="0" algn="ctr">
              <a:buNone/>
              <a:defRPr/>
            </a:lvl4pPr>
            <a:lvl5pPr marL="1881104" indent="0" algn="ctr">
              <a:buNone/>
              <a:defRPr/>
            </a:lvl5pPr>
            <a:lvl6pPr marL="2351380" indent="0" algn="ctr">
              <a:buNone/>
              <a:defRPr/>
            </a:lvl6pPr>
            <a:lvl7pPr marL="2821656" indent="0" algn="ctr">
              <a:buNone/>
              <a:defRPr/>
            </a:lvl7pPr>
            <a:lvl8pPr marL="3291931" indent="0" algn="ctr">
              <a:buNone/>
              <a:defRPr/>
            </a:lvl8pPr>
            <a:lvl9pPr marL="376220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475AFC-6857-4F56-927C-246035CB18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90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A363FA-9981-4AE7-9FF1-E26261854C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17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8064" cy="6537325"/>
          </a:xfrm>
        </p:spPr>
        <p:txBody>
          <a:bodyPr anchor="t"/>
          <a:lstStyle>
            <a:lvl1pPr algn="l">
              <a:defRPr sz="411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9"/>
            <a:ext cx="37308064" cy="7200900"/>
          </a:xfrm>
        </p:spPr>
        <p:txBody>
          <a:bodyPr anchor="b"/>
          <a:lstStyle>
            <a:lvl1pPr marL="0" indent="0">
              <a:buNone/>
              <a:defRPr sz="2057"/>
            </a:lvl1pPr>
            <a:lvl2pPr marL="470276" indent="0">
              <a:buNone/>
              <a:defRPr sz="1851"/>
            </a:lvl2pPr>
            <a:lvl3pPr marL="940552" indent="0">
              <a:buNone/>
              <a:defRPr sz="1646"/>
            </a:lvl3pPr>
            <a:lvl4pPr marL="1410828" indent="0">
              <a:buNone/>
              <a:defRPr sz="1440"/>
            </a:lvl4pPr>
            <a:lvl5pPr marL="1881104" indent="0">
              <a:buNone/>
              <a:defRPr sz="1440"/>
            </a:lvl5pPr>
            <a:lvl6pPr marL="2351380" indent="0">
              <a:buNone/>
              <a:defRPr sz="1440"/>
            </a:lvl6pPr>
            <a:lvl7pPr marL="2821656" indent="0">
              <a:buNone/>
              <a:defRPr sz="1440"/>
            </a:lvl7pPr>
            <a:lvl8pPr marL="3291931" indent="0">
              <a:buNone/>
              <a:defRPr sz="1440"/>
            </a:lvl8pPr>
            <a:lvl9pPr marL="3762207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3F705-AD89-4D8C-8820-7C789B9B37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1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1570" y="9510714"/>
            <a:ext cx="18588717" cy="19750087"/>
          </a:xfrm>
        </p:spPr>
        <p:txBody>
          <a:bodyPr/>
          <a:lstStyle>
            <a:lvl1pPr>
              <a:defRPr sz="2880"/>
            </a:lvl1pPr>
            <a:lvl2pPr>
              <a:defRPr sz="2469"/>
            </a:lvl2pPr>
            <a:lvl3pPr>
              <a:defRPr sz="2057"/>
            </a:lvl3pPr>
            <a:lvl4pPr>
              <a:defRPr sz="1851"/>
            </a:lvl4pPr>
            <a:lvl5pPr>
              <a:defRPr sz="1851"/>
            </a:lvl5pPr>
            <a:lvl6pPr>
              <a:defRPr sz="1851"/>
            </a:lvl6pPr>
            <a:lvl7pPr>
              <a:defRPr sz="1851"/>
            </a:lvl7pPr>
            <a:lvl8pPr>
              <a:defRPr sz="1851"/>
            </a:lvl8pPr>
            <a:lvl9pPr>
              <a:defRPr sz="18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0914" y="9510714"/>
            <a:ext cx="18588718" cy="19750087"/>
          </a:xfrm>
        </p:spPr>
        <p:txBody>
          <a:bodyPr/>
          <a:lstStyle>
            <a:lvl1pPr>
              <a:defRPr sz="2880"/>
            </a:lvl1pPr>
            <a:lvl2pPr>
              <a:defRPr sz="2469"/>
            </a:lvl2pPr>
            <a:lvl3pPr>
              <a:defRPr sz="2057"/>
            </a:lvl3pPr>
            <a:lvl4pPr>
              <a:defRPr sz="1851"/>
            </a:lvl4pPr>
            <a:lvl5pPr>
              <a:defRPr sz="1851"/>
            </a:lvl5pPr>
            <a:lvl6pPr>
              <a:defRPr sz="1851"/>
            </a:lvl6pPr>
            <a:lvl7pPr>
              <a:defRPr sz="1851"/>
            </a:lvl7pPr>
            <a:lvl8pPr>
              <a:defRPr sz="1851"/>
            </a:lvl8pPr>
            <a:lvl9pPr>
              <a:defRPr sz="18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E12873-F9C7-4030-8D1A-09704E91C2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797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4" y="1317625"/>
            <a:ext cx="39501536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833" y="7369176"/>
            <a:ext cx="19392900" cy="3070225"/>
          </a:xfrm>
        </p:spPr>
        <p:txBody>
          <a:bodyPr anchor="b"/>
          <a:lstStyle>
            <a:lvl1pPr marL="0" indent="0">
              <a:buNone/>
              <a:defRPr sz="2469" b="1"/>
            </a:lvl1pPr>
            <a:lvl2pPr marL="470276" indent="0">
              <a:buNone/>
              <a:defRPr sz="2057" b="1"/>
            </a:lvl2pPr>
            <a:lvl3pPr marL="940552" indent="0">
              <a:buNone/>
              <a:defRPr sz="1851" b="1"/>
            </a:lvl3pPr>
            <a:lvl4pPr marL="1410828" indent="0">
              <a:buNone/>
              <a:defRPr sz="1646" b="1"/>
            </a:lvl4pPr>
            <a:lvl5pPr marL="1881104" indent="0">
              <a:buNone/>
              <a:defRPr sz="1646" b="1"/>
            </a:lvl5pPr>
            <a:lvl6pPr marL="2351380" indent="0">
              <a:buNone/>
              <a:defRPr sz="1646" b="1"/>
            </a:lvl6pPr>
            <a:lvl7pPr marL="2821656" indent="0">
              <a:buNone/>
              <a:defRPr sz="1646" b="1"/>
            </a:lvl7pPr>
            <a:lvl8pPr marL="3291931" indent="0">
              <a:buNone/>
              <a:defRPr sz="1646" b="1"/>
            </a:lvl8pPr>
            <a:lvl9pPr marL="3762207" indent="0">
              <a:buNone/>
              <a:defRPr sz="1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833" y="10439401"/>
            <a:ext cx="19392900" cy="18965863"/>
          </a:xfrm>
        </p:spPr>
        <p:txBody>
          <a:bodyPr/>
          <a:lstStyle>
            <a:lvl1pPr>
              <a:defRPr sz="2469"/>
            </a:lvl1pPr>
            <a:lvl2pPr>
              <a:defRPr sz="2057"/>
            </a:lvl2pPr>
            <a:lvl3pPr>
              <a:defRPr sz="1851"/>
            </a:lvl3pPr>
            <a:lvl4pPr>
              <a:defRPr sz="1646"/>
            </a:lvl4pPr>
            <a:lvl5pPr>
              <a:defRPr sz="1646"/>
            </a:lvl5pPr>
            <a:lvl6pPr>
              <a:defRPr sz="1646"/>
            </a:lvl6pPr>
            <a:lvl7pPr>
              <a:defRPr sz="1646"/>
            </a:lvl7pPr>
            <a:lvl8pPr>
              <a:defRPr sz="1646"/>
            </a:lvl8pPr>
            <a:lvl9pPr>
              <a:defRPr sz="16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664" y="7369176"/>
            <a:ext cx="19399704" cy="3070225"/>
          </a:xfrm>
        </p:spPr>
        <p:txBody>
          <a:bodyPr anchor="b"/>
          <a:lstStyle>
            <a:lvl1pPr marL="0" indent="0">
              <a:buNone/>
              <a:defRPr sz="2469" b="1"/>
            </a:lvl1pPr>
            <a:lvl2pPr marL="470276" indent="0">
              <a:buNone/>
              <a:defRPr sz="2057" b="1"/>
            </a:lvl2pPr>
            <a:lvl3pPr marL="940552" indent="0">
              <a:buNone/>
              <a:defRPr sz="1851" b="1"/>
            </a:lvl3pPr>
            <a:lvl4pPr marL="1410828" indent="0">
              <a:buNone/>
              <a:defRPr sz="1646" b="1"/>
            </a:lvl4pPr>
            <a:lvl5pPr marL="1881104" indent="0">
              <a:buNone/>
              <a:defRPr sz="1646" b="1"/>
            </a:lvl5pPr>
            <a:lvl6pPr marL="2351380" indent="0">
              <a:buNone/>
              <a:defRPr sz="1646" b="1"/>
            </a:lvl6pPr>
            <a:lvl7pPr marL="2821656" indent="0">
              <a:buNone/>
              <a:defRPr sz="1646" b="1"/>
            </a:lvl7pPr>
            <a:lvl8pPr marL="3291931" indent="0">
              <a:buNone/>
              <a:defRPr sz="1646" b="1"/>
            </a:lvl8pPr>
            <a:lvl9pPr marL="3762207" indent="0">
              <a:buNone/>
              <a:defRPr sz="1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664" y="10439401"/>
            <a:ext cx="19399704" cy="18965863"/>
          </a:xfrm>
        </p:spPr>
        <p:txBody>
          <a:bodyPr/>
          <a:lstStyle>
            <a:lvl1pPr>
              <a:defRPr sz="2469"/>
            </a:lvl1pPr>
            <a:lvl2pPr>
              <a:defRPr sz="2057"/>
            </a:lvl2pPr>
            <a:lvl3pPr>
              <a:defRPr sz="1851"/>
            </a:lvl3pPr>
            <a:lvl4pPr>
              <a:defRPr sz="1646"/>
            </a:lvl4pPr>
            <a:lvl5pPr>
              <a:defRPr sz="1646"/>
            </a:lvl5pPr>
            <a:lvl6pPr>
              <a:defRPr sz="1646"/>
            </a:lvl6pPr>
            <a:lvl7pPr>
              <a:defRPr sz="1646"/>
            </a:lvl7pPr>
            <a:lvl8pPr>
              <a:defRPr sz="1646"/>
            </a:lvl8pPr>
            <a:lvl9pPr>
              <a:defRPr sz="16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15957A-C4BF-428D-896B-2CFE4CD3BF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81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D3D86-CDF1-40D2-9EC2-9521D9AB65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86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F6F5D9-9F41-43F0-A3BB-BE6F460DD9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85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3" y="1311275"/>
            <a:ext cx="14439900" cy="5576888"/>
          </a:xfrm>
        </p:spPr>
        <p:txBody>
          <a:bodyPr anchor="b"/>
          <a:lstStyle>
            <a:lvl1pPr algn="l">
              <a:defRPr sz="205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9968" y="1311276"/>
            <a:ext cx="24536400" cy="28093988"/>
          </a:xfrm>
        </p:spPr>
        <p:txBody>
          <a:bodyPr/>
          <a:lstStyle>
            <a:lvl1pPr>
              <a:defRPr sz="3292"/>
            </a:lvl1pPr>
            <a:lvl2pPr>
              <a:defRPr sz="2880"/>
            </a:lvl2pPr>
            <a:lvl3pPr>
              <a:defRPr sz="2469"/>
            </a:lvl3pPr>
            <a:lvl4pPr>
              <a:defRPr sz="2057"/>
            </a:lvl4pPr>
            <a:lvl5pPr>
              <a:defRPr sz="2057"/>
            </a:lvl5pPr>
            <a:lvl6pPr>
              <a:defRPr sz="2057"/>
            </a:lvl6pPr>
            <a:lvl7pPr>
              <a:defRPr sz="2057"/>
            </a:lvl7pPr>
            <a:lvl8pPr>
              <a:defRPr sz="2057"/>
            </a:lvl8pPr>
            <a:lvl9pPr>
              <a:defRPr sz="20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833" y="6888163"/>
            <a:ext cx="14439900" cy="22517100"/>
          </a:xfrm>
        </p:spPr>
        <p:txBody>
          <a:bodyPr/>
          <a:lstStyle>
            <a:lvl1pPr marL="0" indent="0">
              <a:buNone/>
              <a:defRPr sz="1440"/>
            </a:lvl1pPr>
            <a:lvl2pPr marL="470276" indent="0">
              <a:buNone/>
              <a:defRPr sz="1234"/>
            </a:lvl2pPr>
            <a:lvl3pPr marL="940552" indent="0">
              <a:buNone/>
              <a:defRPr sz="1029"/>
            </a:lvl3pPr>
            <a:lvl4pPr marL="1410828" indent="0">
              <a:buNone/>
              <a:defRPr sz="926"/>
            </a:lvl4pPr>
            <a:lvl5pPr marL="1881104" indent="0">
              <a:buNone/>
              <a:defRPr sz="926"/>
            </a:lvl5pPr>
            <a:lvl6pPr marL="2351380" indent="0">
              <a:buNone/>
              <a:defRPr sz="926"/>
            </a:lvl6pPr>
            <a:lvl7pPr marL="2821656" indent="0">
              <a:buNone/>
              <a:defRPr sz="926"/>
            </a:lvl7pPr>
            <a:lvl8pPr marL="3291931" indent="0">
              <a:buNone/>
              <a:defRPr sz="926"/>
            </a:lvl8pPr>
            <a:lvl9pPr marL="3762207" indent="0">
              <a:buNone/>
              <a:defRPr sz="9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D7565A-D9F2-4012-8632-75D639395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90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437" y="23042563"/>
            <a:ext cx="26335264" cy="2720975"/>
          </a:xfrm>
        </p:spPr>
        <p:txBody>
          <a:bodyPr anchor="b"/>
          <a:lstStyle>
            <a:lvl1pPr algn="l">
              <a:defRPr sz="205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437" y="2941639"/>
            <a:ext cx="26335264" cy="19750087"/>
          </a:xfrm>
        </p:spPr>
        <p:txBody>
          <a:bodyPr/>
          <a:lstStyle>
            <a:lvl1pPr marL="0" indent="0">
              <a:buNone/>
              <a:defRPr sz="3292"/>
            </a:lvl1pPr>
            <a:lvl2pPr marL="470276" indent="0">
              <a:buNone/>
              <a:defRPr sz="2880"/>
            </a:lvl2pPr>
            <a:lvl3pPr marL="940552" indent="0">
              <a:buNone/>
              <a:defRPr sz="2469"/>
            </a:lvl3pPr>
            <a:lvl4pPr marL="1410828" indent="0">
              <a:buNone/>
              <a:defRPr sz="2057"/>
            </a:lvl4pPr>
            <a:lvl5pPr marL="1881104" indent="0">
              <a:buNone/>
              <a:defRPr sz="2057"/>
            </a:lvl5pPr>
            <a:lvl6pPr marL="2351380" indent="0">
              <a:buNone/>
              <a:defRPr sz="2057"/>
            </a:lvl6pPr>
            <a:lvl7pPr marL="2821656" indent="0">
              <a:buNone/>
              <a:defRPr sz="2057"/>
            </a:lvl7pPr>
            <a:lvl8pPr marL="3291931" indent="0">
              <a:buNone/>
              <a:defRPr sz="2057"/>
            </a:lvl8pPr>
            <a:lvl9pPr marL="3762207" indent="0">
              <a:buNone/>
              <a:defRPr sz="205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437" y="25763539"/>
            <a:ext cx="26335264" cy="3862387"/>
          </a:xfrm>
        </p:spPr>
        <p:txBody>
          <a:bodyPr/>
          <a:lstStyle>
            <a:lvl1pPr marL="0" indent="0">
              <a:buNone/>
              <a:defRPr sz="1440"/>
            </a:lvl1pPr>
            <a:lvl2pPr marL="470276" indent="0">
              <a:buNone/>
              <a:defRPr sz="1234"/>
            </a:lvl2pPr>
            <a:lvl3pPr marL="940552" indent="0">
              <a:buNone/>
              <a:defRPr sz="1029"/>
            </a:lvl3pPr>
            <a:lvl4pPr marL="1410828" indent="0">
              <a:buNone/>
              <a:defRPr sz="926"/>
            </a:lvl4pPr>
            <a:lvl5pPr marL="1881104" indent="0">
              <a:buNone/>
              <a:defRPr sz="926"/>
            </a:lvl5pPr>
            <a:lvl6pPr marL="2351380" indent="0">
              <a:buNone/>
              <a:defRPr sz="926"/>
            </a:lvl6pPr>
            <a:lvl7pPr marL="2821656" indent="0">
              <a:buNone/>
              <a:defRPr sz="926"/>
            </a:lvl7pPr>
            <a:lvl8pPr marL="3291931" indent="0">
              <a:buNone/>
              <a:defRPr sz="926"/>
            </a:lvl8pPr>
            <a:lvl9pPr marL="3762207" indent="0">
              <a:buNone/>
              <a:defRPr sz="9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D57092-E69B-40AB-B019-09F471467C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028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548AA4-E645-4DFE-B7E2-F971D81595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26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3298" y="2925763"/>
            <a:ext cx="9326336" cy="26335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1568" y="2925763"/>
            <a:ext cx="27851100" cy="26335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C3553D-7CED-4791-A3A1-6B0D4A9AC2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053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1569" y="2926080"/>
            <a:ext cx="37308064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07557" tIns="203779" rIns="407557" bIns="20377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1569" y="9511393"/>
            <a:ext cx="37308064" cy="19749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07557" tIns="203779" rIns="407557" bIns="2037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1568" y="29992320"/>
            <a:ext cx="9144000" cy="219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7557" tIns="203779" rIns="407557" bIns="203779" numCol="1" anchor="t" anchorCtr="0" compatLnSpc="1">
            <a:prstTxWarp prst="textNoShape">
              <a:avLst/>
            </a:prstTxWarp>
          </a:bodyPr>
          <a:lstStyle>
            <a:lvl1pPr>
              <a:defRPr sz="6377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6433" y="29992320"/>
            <a:ext cx="13898336" cy="219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7557" tIns="203779" rIns="407557" bIns="203779" numCol="1" anchor="t" anchorCtr="0" compatLnSpc="1">
            <a:prstTxWarp prst="textNoShape">
              <a:avLst/>
            </a:prstTxWarp>
          </a:bodyPr>
          <a:lstStyle>
            <a:lvl1pPr algn="ctr">
              <a:defRPr sz="6377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5633" y="29992320"/>
            <a:ext cx="9144000" cy="219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7557" tIns="203779" rIns="407557" bIns="203779" numCol="1" anchor="t" anchorCtr="0" compatLnSpc="1">
            <a:prstTxWarp prst="textNoShape">
              <a:avLst/>
            </a:prstTxWarp>
          </a:bodyPr>
          <a:lstStyle>
            <a:lvl1pPr algn="r">
              <a:defRPr sz="6377">
                <a:latin typeface="Times New Roman" panose="02020603050405020304" pitchFamily="18" charset="0"/>
              </a:defRPr>
            </a:lvl1pPr>
          </a:lstStyle>
          <a:p>
            <a:fld id="{0A184785-1B36-471E-9352-394AF09A17E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2pPr>
      <a:lvl3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3pPr>
      <a:lvl4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4pPr>
      <a:lvl5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5pPr>
      <a:lvl6pPr marL="470276" algn="ctr" defTabSz="4191661" rtl="0" fontAlgn="base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</a:defRPr>
      </a:lvl6pPr>
      <a:lvl7pPr marL="940552" algn="ctr" defTabSz="4191661" rtl="0" fontAlgn="base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</a:defRPr>
      </a:lvl7pPr>
      <a:lvl8pPr marL="1410828" algn="ctr" defTabSz="4191661" rtl="0" fontAlgn="base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</a:defRPr>
      </a:lvl8pPr>
      <a:lvl9pPr marL="1881104" algn="ctr" defTabSz="4191661" rtl="0" fontAlgn="base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</a:defRPr>
      </a:lvl9pPr>
    </p:titleStyle>
    <p:bodyStyle>
      <a:lvl1pPr marL="1572486" indent="-1572486" algn="l" defTabSz="4191661" rtl="0" eaLnBrk="0" fontAlgn="base" hangingPunct="0">
        <a:spcBef>
          <a:spcPct val="20000"/>
        </a:spcBef>
        <a:spcAft>
          <a:spcPct val="0"/>
        </a:spcAft>
        <a:buChar char="•"/>
        <a:defRPr sz="14709">
          <a:solidFill>
            <a:schemeClr val="tx1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3406235" indent="-1309588" algn="l" defTabSz="4191661" rtl="0" eaLnBrk="0" fontAlgn="base" hangingPunct="0">
        <a:spcBef>
          <a:spcPct val="20000"/>
        </a:spcBef>
        <a:spcAft>
          <a:spcPct val="0"/>
        </a:spcAft>
        <a:buChar char="–"/>
        <a:defRPr sz="12857">
          <a:solidFill>
            <a:schemeClr val="tx1"/>
          </a:solidFill>
          <a:latin typeface="+mn-lt"/>
          <a:ea typeface="MS PGothic" pitchFamily="34" charset="-128"/>
        </a:defRPr>
      </a:lvl2pPr>
      <a:lvl3pPr marL="5239985" indent="-1048323" algn="l" defTabSz="4191661" rtl="0" eaLnBrk="0" fontAlgn="base" hangingPunct="0">
        <a:spcBef>
          <a:spcPct val="20000"/>
        </a:spcBef>
        <a:spcAft>
          <a:spcPct val="0"/>
        </a:spcAft>
        <a:buChar char="•"/>
        <a:defRPr sz="11006">
          <a:solidFill>
            <a:schemeClr val="tx1"/>
          </a:solidFill>
          <a:latin typeface="+mn-lt"/>
          <a:ea typeface="MS PGothic" pitchFamily="34" charset="-128"/>
        </a:defRPr>
      </a:lvl3pPr>
      <a:lvl4pPr marL="7336631" indent="-1048323" algn="l" defTabSz="4191661" rtl="0" eaLnBrk="0" fontAlgn="base" hangingPunct="0">
        <a:spcBef>
          <a:spcPct val="20000"/>
        </a:spcBef>
        <a:spcAft>
          <a:spcPct val="0"/>
        </a:spcAft>
        <a:buChar char="–"/>
        <a:defRPr sz="9155">
          <a:solidFill>
            <a:schemeClr val="tx1"/>
          </a:solidFill>
          <a:latin typeface="+mn-lt"/>
          <a:ea typeface="MS PGothic" pitchFamily="34" charset="-128"/>
        </a:defRPr>
      </a:lvl4pPr>
      <a:lvl5pPr marL="9431645" indent="-1046691" algn="l" defTabSz="4191661" rtl="0" eaLnBrk="0" fontAlgn="base" hangingPunct="0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MS PGothic" pitchFamily="34" charset="-128"/>
        </a:defRPr>
      </a:lvl5pPr>
      <a:lvl6pPr marL="9901921" indent="-1046691" algn="l" defTabSz="4191661" rtl="0" fontAlgn="base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ＭＳ Ｐゴシック" pitchFamily="-65" charset="-128"/>
        </a:defRPr>
      </a:lvl6pPr>
      <a:lvl7pPr marL="10372197" indent="-1046691" algn="l" defTabSz="4191661" rtl="0" fontAlgn="base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ＭＳ Ｐゴシック" pitchFamily="-65" charset="-128"/>
        </a:defRPr>
      </a:lvl7pPr>
      <a:lvl8pPr marL="10842473" indent="-1046691" algn="l" defTabSz="4191661" rtl="0" fontAlgn="base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ＭＳ Ｐゴシック" pitchFamily="-65" charset="-128"/>
        </a:defRPr>
      </a:lvl8pPr>
      <a:lvl9pPr marL="11312749" indent="-1046691" algn="l" defTabSz="4191661" rtl="0" fontAlgn="base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1pPr>
      <a:lvl2pPr marL="470276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2pPr>
      <a:lvl3pPr marL="940552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3pPr>
      <a:lvl4pPr marL="1410828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4pPr>
      <a:lvl5pPr marL="1881104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5pPr>
      <a:lvl6pPr marL="2351380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6pPr>
      <a:lvl7pPr marL="2821656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7pPr>
      <a:lvl8pPr marL="3291931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8pPr>
      <a:lvl9pPr marL="3762207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0" y="0"/>
            <a:ext cx="43891200" cy="32918400"/>
          </a:xfrm>
          <a:prstGeom prst="rect">
            <a:avLst/>
          </a:prstGeom>
          <a:solidFill>
            <a:srgbClr val="191919">
              <a:alpha val="7843"/>
            </a:srgbClr>
          </a:solidFill>
          <a:ln w="9525">
            <a:solidFill>
              <a:srgbClr val="D8D8D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3292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022168" y="7106194"/>
            <a:ext cx="10048603" cy="5261066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/>
          <a:lstStyle>
            <a:lvl1pPr eaLnBrk="0" hangingPunct="0">
              <a:spcBef>
                <a:spcPct val="20000"/>
              </a:spcBef>
              <a:buChar char="•"/>
              <a:tabLst>
                <a:tab pos="500063" algn="l"/>
              </a:tabLst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500063" algn="l"/>
              </a:tabLst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500063" algn="l"/>
              </a:tabLst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algn="just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study whether changes in contact-network topology predict transitions into high-risk epidemic periods across several classical empirical proximity network datasets. We use temporal graph learning with persistent homology-based topological signals and evaluate large-outbreak risk using SIR simulations to test whether topological drift serves as an early warning signal for epidemic instability.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80" dirty="0">
                <a:cs typeface="Arial" panose="020B0604020202020204" pitchFamily="34" charset="0"/>
              </a:rPr>
              <a:t>		</a:t>
            </a:r>
            <a:endParaRPr lang="en-US" altLang="en-US" sz="2880" i="1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en-US" altLang="en-US" sz="288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Text Box 11"/>
              <p:cNvSpPr txBox="1">
                <a:spLocks noChangeArrowheads="1"/>
              </p:cNvSpPr>
              <p:nvPr/>
            </p:nvSpPr>
            <p:spPr bwMode="auto">
              <a:xfrm>
                <a:off x="1022168" y="13274764"/>
                <a:ext cx="10048603" cy="1867698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940526" tIns="470263" rIns="940526" bIns="940526" numCol="1"/>
              <a:lstStyle>
                <a:lvl1pPr eaLnBrk="0" hangingPunct="0">
                  <a:spcBef>
                    <a:spcPct val="20000"/>
                  </a:spcBef>
                  <a:buChar char="•"/>
                  <a:tabLst>
                    <a:tab pos="508000" algn="l"/>
                  </a:tabLst>
                  <a:defRPr sz="143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tabLst>
                    <a:tab pos="508000" algn="l"/>
                  </a:tabLst>
                  <a:defRPr sz="125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tabLst>
                    <a:tab pos="508000" algn="l"/>
                  </a:tabLst>
                  <a:defRPr sz="107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48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Methodology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Dataset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</a:t>
                </a:r>
              </a:p>
              <a:p>
                <a:pPr marL="514350" indent="-514350" eaLnBrk="1" hangingPunct="1">
                  <a:spcBef>
                    <a:spcPct val="50000"/>
                  </a:spcBef>
                  <a:buFont typeface="Wingdings" panose="05000000000000000000" pitchFamily="2" charset="2"/>
                  <a:buChar char="v"/>
                </a:pPr>
                <a:r>
                  <a:rPr lang="en-US" alt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“Infectious” Exhibition: 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Science Gallery exhibit crowd interaction network, partitioned into 24-hour windows [1].</a:t>
                </a:r>
              </a:p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en-US" sz="28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Framework</a:t>
                </a:r>
              </a:p>
              <a:p>
                <a:pPr marL="457200" indent="-457200" eaLnBrk="1" hangingPunct="1">
                  <a:spcBef>
                    <a:spcPct val="50000"/>
                  </a:spcBef>
                  <a:buFont typeface="+mj-lt"/>
                  <a:buAutoNum type="arabicPeriod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Graph-only: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Temporal Graph Network (TGN) on temporal graphs with cumulative contact duration as edge weights.</a:t>
                </a: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msg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𝐞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msg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𝐞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agg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mem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emb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𝒩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sub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eaLnBrk="1" hangingPunct="1">
                  <a:spcBef>
                    <a:spcPct val="50000"/>
                  </a:spcBef>
                  <a:buFont typeface="+mj-lt"/>
                  <a:buAutoNum type="arabicPeriod" startAt="2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Graph-and-Topology:</a:t>
                </a:r>
              </a:p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Persistence diagrams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computed from weighted clique 	filtrations.</a:t>
                </a:r>
                <a:b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 ,   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ℒ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 </m:t>
                      </m:r>
                      <m:r>
                        <m:rPr>
                          <m:lit/>
                        </m:rP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𝐳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𝜙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 </m:t>
                      </m:r>
                      <m:r>
                        <m:rPr>
                          <m:lit/>
                        </m:rP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𝐳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𝜙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85850" lvl="1" indent="-342900" eaLnBrk="1" hangingPunct="1">
                  <a:spcBef>
                    <a:spcPct val="50000"/>
                  </a:spcBef>
                  <a:buFont typeface="Wingdings" panose="05000000000000000000" pitchFamily="2" charset="2"/>
                  <a:buChar char="v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Persistence Landscapes:</a:t>
                </a: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𝑚𝑎𝑥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𝑚𝑖𝑛</m:t>
                          </m:r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th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largest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85850" lvl="1" indent="-342900" eaLnBrk="1" hangingPunct="1">
                  <a:spcBef>
                    <a:spcPct val="50000"/>
                  </a:spcBef>
                  <a:buFont typeface="Wingdings" panose="05000000000000000000" pitchFamily="2" charset="2"/>
                  <a:buChar char="v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Our Approach (RKHS):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drift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mapped to an RKHS feature representation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topology-constrained learning.</a:t>
                </a: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𝐾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≅⊕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ℤ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  </m:t>
                      </m:r>
                      <m:acc>
                        <m:accPr>
                          <m:chr m:val="̂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</m:t>
                              </m:r>
                            </m:e>
                          </m:d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∏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𝕋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𝜆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𝑣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𝜈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↓ (Fourier-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Stieltjes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Transform)</a:t>
                </a: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∫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𝕋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</m:d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𝜃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↓ (Bochner’s Theorem) ↓ (Reproducing Kernel Hilbert Space)             </a:t>
                </a: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Φ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Φ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ℋ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span</m:t>
                          </m:r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𝐾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 eaLnBrk="1" hangingPunct="1">
                  <a:spcBef>
                    <a:spcPct val="50000"/>
                  </a:spcBef>
                  <a:buFont typeface="+mj-lt"/>
                  <a:buAutoNum type="arabicPeriod" startAt="3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Drift Levels:</a:t>
                </a: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Γ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Λ</m:t>
                          </m:r>
                        </m:e>
                      </m:d>
                      <m:r>
                        <a:rPr lang="en-US" sz="20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≔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  <m:d>
                                        <m:dPr>
                                          <m:endChr m:val="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000" b="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000" b="0" i="1"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𝑣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,1</m:t>
                              </m:r>
                            </m:e>
                          </m:d>
                        </m:sup>
                      </m:sSubSup>
                      <m:r>
                        <a:rPr lang="en-US" sz="20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20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sz="2000" b="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:endPara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2168" y="13274764"/>
                <a:ext cx="10048603" cy="18676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3" name="Text Box 16"/>
          <p:cNvSpPr txBox="1">
            <a:spLocks noChangeArrowheads="1"/>
          </p:cNvSpPr>
          <p:nvPr/>
        </p:nvSpPr>
        <p:spPr bwMode="auto">
          <a:xfrm>
            <a:off x="33448666" y="19441885"/>
            <a:ext cx="10048603" cy="12509863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/>
          <a:lstStyle>
            <a:lvl1pPr eaLnBrk="0" hangingPunct="0">
              <a:spcBef>
                <a:spcPct val="20000"/>
              </a:spcBef>
              <a:buChar char="•"/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526" b="1" dirty="0">
                <a:solidFill>
                  <a:srgbClr val="000000"/>
                </a:solidFill>
                <a:latin typeface="Calibri" panose="020F0502020204030204" pitchFamily="34" charset="0"/>
              </a:rPr>
              <a:t>Code</a:t>
            </a:r>
          </a:p>
        </p:txBody>
      </p:sp>
      <p:sp>
        <p:nvSpPr>
          <p:cNvPr id="2054" name="Text Box 12"/>
          <p:cNvSpPr txBox="1">
            <a:spLocks noChangeArrowheads="1"/>
          </p:cNvSpPr>
          <p:nvPr/>
        </p:nvSpPr>
        <p:spPr bwMode="auto">
          <a:xfrm>
            <a:off x="11336928" y="7106194"/>
            <a:ext cx="21717808" cy="24845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 numCol="3"/>
          <a:lstStyle>
            <a:lvl1pPr eaLnBrk="0" hangingPunct="0">
              <a:spcBef>
                <a:spcPct val="20000"/>
              </a:spcBef>
              <a:buChar char="•"/>
              <a:tabLst>
                <a:tab pos="500063" algn="l"/>
              </a:tabLst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500063" algn="l"/>
              </a:tabLst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500063" algn="l"/>
              </a:tabLst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4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055" name="Text Box 13"/>
          <p:cNvSpPr txBox="1">
            <a:spLocks noChangeArrowheads="1"/>
          </p:cNvSpPr>
          <p:nvPr/>
        </p:nvSpPr>
        <p:spPr bwMode="auto">
          <a:xfrm>
            <a:off x="33448666" y="7106195"/>
            <a:ext cx="10048603" cy="5261066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/>
          <a:lstStyle>
            <a:lvl1pPr eaLnBrk="0" hangingPunct="0">
              <a:spcBef>
                <a:spcPct val="20000"/>
              </a:spcBef>
              <a:buChar char="•"/>
              <a:tabLst>
                <a:tab pos="635000" algn="l"/>
              </a:tabLst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635000" algn="l"/>
              </a:tabLst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635000" algn="l"/>
              </a:tabLst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526" b="1" dirty="0">
                <a:solidFill>
                  <a:srgbClr val="000000"/>
                </a:solidFill>
                <a:latin typeface="Calibri" panose="020F0502020204030204" pitchFamily="34" charset="0"/>
              </a:rPr>
              <a:t>Conclusions</a:t>
            </a:r>
          </a:p>
          <a:p>
            <a:pPr algn="just">
              <a:buFontTx/>
              <a:buNone/>
            </a:pPr>
            <a:r>
              <a:rPr lang="en-US" altLang="en-US" sz="2000" dirty="0"/>
              <a:t>In summary, the principal theoretical contribution of this work is the formulation of a hierarchical topological jet framework that rigorously integrates recursive persistence structures, temporal drift operators, and RKHS-based alignment into a unified learning pipeline for dynamic contact networks. Empirically, the results on the \</a:t>
            </a:r>
            <a:r>
              <a:rPr lang="en-US" altLang="en-US" sz="2000" dirty="0" err="1"/>
              <a:t>textit</a:t>
            </a:r>
            <a:r>
              <a:rPr lang="en-US" altLang="en-US" sz="2000" dirty="0"/>
              <a:t>{Infectious} dataset show that topology-aware models consistently outperform the graph-only TGN baseline, with the RKHS-constrained approach achieving the strongest overall performance and Level~2 representations substantially improving all model classes. The primary limitation is that evaluation was conducted on a small chronological test set with effectively single-class support, which restricts the strength of calibration and generalization claims despite the consistent directional improvements observed. Future work should therefore focus on larger temporally stratified multi-dataset validation, balanced test splits, and the extension of the framework to deeper structural and temporal jet hierarchies for early epidemic transition forecasting.</a:t>
            </a:r>
          </a:p>
        </p:txBody>
      </p:sp>
      <p:sp>
        <p:nvSpPr>
          <p:cNvPr id="2056" name="Text Box 14"/>
          <p:cNvSpPr txBox="1">
            <a:spLocks noChangeArrowheads="1"/>
          </p:cNvSpPr>
          <p:nvPr/>
        </p:nvSpPr>
        <p:spPr bwMode="auto">
          <a:xfrm>
            <a:off x="-2594609" y="4333940"/>
            <a:ext cx="49064091" cy="2523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2158" tIns="282158" rIns="282158" bIns="282158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617"/>
              </a:spcAft>
              <a:buNone/>
            </a:pPr>
            <a:r>
              <a:rPr lang="en-US" altLang="en-US" sz="6172" b="1" dirty="0">
                <a:latin typeface="Calibri" panose="020F0502020204030204" pitchFamily="34" charset="0"/>
              </a:rPr>
              <a:t>Charles Fanning</a:t>
            </a:r>
            <a:br>
              <a:rPr lang="en-US" altLang="en-US" sz="6172" b="1" dirty="0">
                <a:latin typeface="Calibri" panose="020F0502020204030204" pitchFamily="34" charset="0"/>
              </a:rPr>
            </a:br>
            <a:r>
              <a:rPr lang="en-US" altLang="en-US" sz="6172" b="1" dirty="0">
                <a:latin typeface="Calibri" panose="020F0502020204030204" pitchFamily="34" charset="0"/>
              </a:rPr>
              <a:t>Advisor: Dr. Mehmet Aktas</a:t>
            </a:r>
            <a:endParaRPr lang="en-US" altLang="en-US" sz="6172" dirty="0">
              <a:latin typeface="Calibri" panose="020F0502020204030204" pitchFamily="34" charset="0"/>
            </a:endParaRPr>
          </a:p>
        </p:txBody>
      </p:sp>
      <p:sp>
        <p:nvSpPr>
          <p:cNvPr id="2057" name="Text Box 15"/>
          <p:cNvSpPr txBox="1">
            <a:spLocks noChangeArrowheads="1"/>
          </p:cNvSpPr>
          <p:nvPr/>
        </p:nvSpPr>
        <p:spPr bwMode="auto">
          <a:xfrm>
            <a:off x="33450297" y="13279303"/>
            <a:ext cx="10047086" cy="5239838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 numCol="1"/>
          <a:lstStyle>
            <a:lvl1pPr marL="500063" indent="-500063" eaLnBrk="0" hangingPunct="0">
              <a:spcBef>
                <a:spcPct val="20000"/>
              </a:spcBef>
              <a:buChar char="•"/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L. Isella, J.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Stehlé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A. Barrat, C.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Cattuto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J.-F.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Pinton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W. Van den Broeck (2011). What's in a crowd? Analysis of face-to-face behavioral networks.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Journal of Theoretical Biology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271(1):166--180.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 Rossi, B. Chamberlain, F. Frasca, D.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Eynard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F. Monti, and M. Bronstein (2020). Temporal graph networks for deep learning on dynamic graphs. </a:t>
            </a:r>
            <a:r>
              <a:rPr lang="en-US" alt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preprint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arXiv:2006.10637.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P. Bubenik (2015). Statistical topological data analysis using persistence landscapes.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Journal of Machine Learning Research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16(1):77--102.</a:t>
            </a:r>
          </a:p>
        </p:txBody>
      </p:sp>
      <p:sp>
        <p:nvSpPr>
          <p:cNvPr id="2" name="Rectangle 180"/>
          <p:cNvSpPr>
            <a:spLocks noChangeArrowheads="1"/>
          </p:cNvSpPr>
          <p:nvPr/>
        </p:nvSpPr>
        <p:spPr bwMode="auto">
          <a:xfrm>
            <a:off x="7700556" y="1846217"/>
            <a:ext cx="29651161" cy="1833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1315" b="1" dirty="0">
                <a:ln>
                  <a:solidFill>
                    <a:schemeClr val="bg1"/>
                  </a:solidFill>
                </a:ln>
                <a:latin typeface="Calibri"/>
                <a:ea typeface="ＭＳ Ｐゴシック" charset="0"/>
                <a:cs typeface="Calibri"/>
              </a:rPr>
              <a:t>Protein Folding Stuff</a:t>
            </a: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1288325" y="1377484"/>
            <a:ext cx="6412231" cy="1881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3444" tIns="61723" rIns="123444" bIns="61723"/>
          <a:lstStyle>
            <a:lvl1pPr defTabSz="3343275">
              <a:defRPr>
                <a:solidFill>
                  <a:schemeClr val="tx1"/>
                </a:solidFill>
                <a:latin typeface="Arial" charset="0"/>
              </a:defRPr>
            </a:lvl1pPr>
            <a:lvl2pPr defTabSz="3343275">
              <a:defRPr>
                <a:solidFill>
                  <a:schemeClr val="tx1"/>
                </a:solidFill>
                <a:latin typeface="Arial" charset="0"/>
              </a:defRPr>
            </a:lvl2pPr>
            <a:lvl3pPr defTabSz="3343275">
              <a:defRPr>
                <a:solidFill>
                  <a:schemeClr val="tx1"/>
                </a:solidFill>
                <a:latin typeface="Arial" charset="0"/>
              </a:defRPr>
            </a:lvl3pPr>
            <a:lvl4pPr defTabSz="3343275">
              <a:defRPr>
                <a:solidFill>
                  <a:schemeClr val="tx1"/>
                </a:solidFill>
                <a:latin typeface="Arial" charset="0"/>
              </a:defRPr>
            </a:lvl4pPr>
            <a:lvl5pPr defTabSz="3343275">
              <a:defRPr>
                <a:solidFill>
                  <a:schemeClr val="tx1"/>
                </a:solidFill>
                <a:latin typeface="Arial" charset="0"/>
              </a:defRPr>
            </a:lvl5pPr>
            <a:lvl6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sz="12343" b="1" cap="all" dirty="0"/>
              <a:t>XX-000</a:t>
            </a:r>
          </a:p>
          <a:p>
            <a:pPr algn="just">
              <a:defRPr/>
            </a:pPr>
            <a:endParaRPr lang="en-US" sz="2469" cap="al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92B1B-DEE8-B14F-A15A-CC5EC3065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1717" y="800269"/>
            <a:ext cx="6145666" cy="49165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3CF7F1-9714-F071-1A84-C5059DB62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6730" y="25696816"/>
            <a:ext cx="9683516" cy="5580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380920-3467-C184-C48C-8F73DFBF6D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75783" y="9663123"/>
            <a:ext cx="12099499" cy="69733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C56786-638C-8124-2CF8-866699F839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09636" y="15431380"/>
            <a:ext cx="6698445" cy="66984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4D4B6A-351C-4BA0-E909-8DEAF2DB36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09636" y="20270213"/>
            <a:ext cx="6202125" cy="62021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6F1E8E-9BBD-4992-3569-A20940E245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40956" y="25880468"/>
            <a:ext cx="9144019" cy="54079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796CAFC-B4F3-FFAF-E2A0-ECCB0F472C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40956" y="16517021"/>
            <a:ext cx="10050622" cy="89066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B1F28A3-EB71-E2F2-15E3-4DF82812C9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168" y="28974179"/>
            <a:ext cx="10048603" cy="27998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4DF9501-3ED4-B977-96B5-6901EF23204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97642" y="20620282"/>
            <a:ext cx="5555424" cy="555542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B4C338F-ECC8-DE8E-40ED-A34A6A9624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597642" y="26129623"/>
            <a:ext cx="5555425" cy="5555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D58FD0-97A8-4098-5A56-13DCED045B5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65380" y="8643938"/>
            <a:ext cx="5580899" cy="558089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Default Design 3">
    <a:dk1>
      <a:srgbClr val="000000"/>
    </a:dk1>
    <a:lt1>
      <a:srgbClr val="FFFFFF"/>
    </a:lt1>
    <a:dk2>
      <a:srgbClr val="000000"/>
    </a:dk2>
    <a:lt2>
      <a:srgbClr val="333333"/>
    </a:lt2>
    <a:accent1>
      <a:srgbClr val="DDDDDD"/>
    </a:accent1>
    <a:accent2>
      <a:srgbClr val="808080"/>
    </a:accent2>
    <a:accent3>
      <a:srgbClr val="FFFFFF"/>
    </a:accent3>
    <a:accent4>
      <a:srgbClr val="000000"/>
    </a:accent4>
    <a:accent5>
      <a:srgbClr val="EBEBEB"/>
    </a:accent5>
    <a:accent6>
      <a:srgbClr val="737373"/>
    </a:accent6>
    <a:hlink>
      <a:srgbClr val="4D4D4D"/>
    </a:hlink>
    <a:folHlink>
      <a:srgbClr val="EAEAE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7467</TotalTime>
  <Words>608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 Math</vt:lpstr>
      <vt:lpstr>Helvetica</vt:lpstr>
      <vt:lpstr>Times New Roman</vt:lpstr>
      <vt:lpstr>Wingdings</vt:lpstr>
      <vt:lpstr>Default Design</vt:lpstr>
      <vt:lpstr>PowerPoint Presentation</vt:lpstr>
    </vt:vector>
  </TitlesOfParts>
  <LinksUpToDate>false</LinksUpToDate>
  <SharedDoc>false</SharedDoc>
  <HyperlinkBase>http://colinpurrington.com/tips/academic/posterdesign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</dc:title>
  <dc:subject>conference poster</dc:subject>
  <dc:creator>Colin Purrington</dc:creator>
  <cp:keywords>poster, conference, session, meeting, symposium, research, presentation</cp:keywords>
  <dc:description>This template is free for you to use to create your poster.  Do not host this file on your own server, even in adapted form. If you need to post a template, please steal somebody else's or just make your own (it's easy).  Thanks!</dc:description>
  <cp:lastModifiedBy>Charles Fanning</cp:lastModifiedBy>
  <cp:revision>546</cp:revision>
  <cp:lastPrinted>2011-10-30T12:54:45Z</cp:lastPrinted>
  <dcterms:created xsi:type="dcterms:W3CDTF">2012-06-12T14:08:55Z</dcterms:created>
  <dcterms:modified xsi:type="dcterms:W3CDTF">2026-04-02T18:26:27Z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Colin Purrington</vt:lpwstr>
  </property>
</Properties>
</file>